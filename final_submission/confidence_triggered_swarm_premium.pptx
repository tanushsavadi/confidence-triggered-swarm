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58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414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0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4048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4048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048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84048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048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84048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4048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8096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8096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68096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8096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8096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8096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68096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68096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8096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68096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68096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68096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68096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68096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152144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152144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152144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152144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152144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152144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152144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1152144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152144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152144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152144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152144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152144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152144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536192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536192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536192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536192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536192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536192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536192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536192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536192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1536192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536192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536192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536192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536192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920240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920240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920240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920240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920240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920240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920240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920240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920240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920240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920240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920240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920240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920240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2304288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2304288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2304288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2304288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2304288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2304288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2304288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2304288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2304288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2304288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2304288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2304288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2304288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2304288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688336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688336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688336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688336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688336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688336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688336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688336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688336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2688336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2688336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2688336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2688336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2688336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072384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072384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3072384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3072384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3072384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3072384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3072384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3072384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3072384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3072384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3072384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3072384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3072384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3072384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3456432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3456432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3456432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3456432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3456432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3456432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3456432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3456432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3456432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3456432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3456432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3456432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3456432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3456432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3840480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3840480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3840480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3840480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3840480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3840480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3840480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3840480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3840480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3840480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3840480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3840480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3840480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3840480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4224528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4224528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4224528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4224528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4224528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4224528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4224528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4224528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4224528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4224528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4224528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4224528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4224528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4224528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4608576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4608576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4608576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4608576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4608576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4608576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4608576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4608576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4608576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4608576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4608576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4608576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4608576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4608576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4992624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4992624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4992624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4992624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4992624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4992624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4992624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4992624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4992624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4992624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4992624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4992624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4992624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4992624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5376672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5376672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5376672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5376672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5376672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5376672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5376672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5376672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5376672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5376672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5376672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5376672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5376672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5376672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5760720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5760720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5760720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5760720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5760720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215"/>
          <p:cNvSpPr/>
          <p:nvPr/>
        </p:nvSpPr>
        <p:spPr>
          <a:xfrm>
            <a:off x="5760720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5760720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5760720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5760720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5760720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5760720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5760720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5760720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5760720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144768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6144768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6144768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6144768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6144768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6144768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6144768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6144768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6144768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6144768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6144768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6144768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6144768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6144768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6528816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6528816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6528816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6528816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6528816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6528816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6528816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6528816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6528816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6528816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6528816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6528816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6528816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6528816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6912864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6912864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6912864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6912864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6912864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6912864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6912864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6912864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6912864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6912864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6912864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6912864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6912864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6912864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7296912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7296912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7296912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7296912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7296912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7296912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7296912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7296912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7296912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7296912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7296912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7296912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7296912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7296912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7680960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7680960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7680960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7680960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7680960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7680960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7680960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7680960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7680960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7680960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7680960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7680960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7680960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7680960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8065008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8065008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8065008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8065008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8065008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8065008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8065008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8065008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8065008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8065008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8065008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8065008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8065008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8065008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8449056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8449056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8449056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8449056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8449056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8449056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8449056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8449056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8449056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8449056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8449056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8449056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8449056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8449056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8833104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8833104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8833104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8833104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8833104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8833104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8833104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8833104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8833104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8833104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8833104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8833104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8833104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8833104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9217152" y="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9217152" y="38404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9217152" y="76809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9217152" y="115214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9217152" y="153619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9217152" y="192024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9217152" y="230428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9217152" y="268833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9217152" y="307238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9217152" y="3456432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9217152" y="3840480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9217152" y="4224528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9217152" y="4608576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9217152" y="4992624"/>
            <a:ext cx="18288" cy="18288"/>
          </a:xfrm>
          <a:prstGeom prst="ellipse">
            <a:avLst/>
          </a:prstGeom>
          <a:solidFill>
            <a:srgbClr val="C9922A">
              <a:alpha val="8000"/>
            </a:srgbClr>
          </a:solidFill>
          <a:ln w="12700">
            <a:solidFill>
              <a:srgbClr val="C9922A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02920"/>
            <a:ext cx="3566160" cy="3566160"/>
          </a:xfrm>
          <a:prstGeom prst="rect">
            <a:avLst/>
          </a:prstGeom>
        </p:spPr>
      </p:pic>
      <p:sp>
        <p:nvSpPr>
          <p:cNvPr id="354" name="Text 351"/>
          <p:cNvSpPr/>
          <p:nvPr/>
        </p:nvSpPr>
        <p:spPr>
          <a:xfrm>
            <a:off x="384048" y="475488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Confidence-Triggered</a:t>
            </a:r>
            <a:endParaRPr lang="en-US" sz="3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Adaptation</a:t>
            </a:r>
            <a:endParaRPr lang="en-US" sz="3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Drone Swarms</a:t>
            </a:r>
            <a:endParaRPr lang="en-US" sz="3200" dirty="0"/>
          </a:p>
        </p:txBody>
      </p:sp>
      <p:sp>
        <p:nvSpPr>
          <p:cNvPr id="355" name="Text 352"/>
          <p:cNvSpPr/>
          <p:nvPr/>
        </p:nvSpPr>
        <p:spPr>
          <a:xfrm>
            <a:off x="384048" y="2880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B84B"/>
                </a:solidFill>
              </a:rPr>
              <a:t>Under Post-Training Surprises</a:t>
            </a:r>
            <a:endParaRPr lang="en-US" sz="1300" dirty="0"/>
          </a:p>
        </p:txBody>
      </p:sp>
      <p:sp>
        <p:nvSpPr>
          <p:cNvPr id="356" name="Shape 353"/>
          <p:cNvSpPr/>
          <p:nvPr/>
        </p:nvSpPr>
        <p:spPr>
          <a:xfrm>
            <a:off x="384048" y="3246120"/>
            <a:ext cx="4389120" cy="25603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Text 354"/>
          <p:cNvSpPr/>
          <p:nvPr/>
        </p:nvSpPr>
        <p:spPr>
          <a:xfrm>
            <a:off x="384048" y="33832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</a:rPr>
              <a:t>Tanush Vijayakumar Savadi  ·  Deveshi Singh  ·  Ron Kleinhause-Goldman</a:t>
            </a:r>
            <a:endParaRPr lang="en-US" sz="1050" dirty="0"/>
          </a:p>
        </p:txBody>
      </p:sp>
      <p:sp>
        <p:nvSpPr>
          <p:cNvPr id="358" name="Text 355"/>
          <p:cNvSpPr/>
          <p:nvPr/>
        </p:nvSpPr>
        <p:spPr>
          <a:xfrm>
            <a:off x="384048" y="363931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8080"/>
                </a:solidFill>
              </a:rPr>
              <a:t>UMass Amherst  ·  COMPSCI 590NN / 690NN</a:t>
            </a:r>
            <a:endParaRPr lang="en-US" sz="950" dirty="0"/>
          </a:p>
        </p:txBody>
      </p:sp>
      <p:sp>
        <p:nvSpPr>
          <p:cNvPr id="359" name="Shape 356"/>
          <p:cNvSpPr/>
          <p:nvPr/>
        </p:nvSpPr>
        <p:spPr>
          <a:xfrm>
            <a:off x="384048" y="4096512"/>
            <a:ext cx="8394192" cy="749808"/>
          </a:xfrm>
          <a:prstGeom prst="roundRect">
            <a:avLst>
              <a:gd name="adj" fmla="val 12195"/>
            </a:avLst>
          </a:prstGeom>
          <a:solidFill>
            <a:srgbClr val="111111"/>
          </a:solidFill>
          <a:ln w="10160">
            <a:solidFill>
              <a:srgbClr val="C9922A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0" name="Text 357"/>
          <p:cNvSpPr/>
          <p:nvPr/>
        </p:nvSpPr>
        <p:spPr>
          <a:xfrm>
            <a:off x="566928" y="4133088"/>
            <a:ext cx="8028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B84B"/>
                </a:solidFill>
              </a:rPr>
              <a:t>Thesis  </a:t>
            </a:r>
            <a:r>
              <a:rPr lang="en-US" sz="1050" dirty="0">
                <a:solidFill>
                  <a:srgbClr val="CCCCCC"/>
                </a:solidFill>
              </a:rPr>
              <a:t>A clean-trained PPO drone swarm policy can detect post-deployment surprises via entropy + MC-dropout confidence, adapt between episodes with anti-forgetting safeguards, and retain clean-task performance while partially recovering from distributional shift.</a:t>
            </a:r>
            <a:endParaRPr lang="en-US" sz="1050" dirty="0"/>
          </a:p>
        </p:txBody>
      </p:sp>
      <p:sp>
        <p:nvSpPr>
          <p:cNvPr id="361" name="Text 358"/>
          <p:cNvSpPr/>
          <p:nvPr/>
        </p:nvSpPr>
        <p:spPr>
          <a:xfrm>
            <a:off x="8229600" y="201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44444"/>
                </a:solidFill>
              </a:rPr>
              <a:t>May 4,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84048" y="256032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25603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9922A"/>
                </a:solidFill>
              </a:rPr>
              <a:t>MOTIVATION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Gap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1097280" cy="25603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80160"/>
            <a:ext cx="2377440" cy="2377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1463040"/>
            <a:ext cx="4114800" cy="3200400"/>
          </a:xfrm>
          <a:prstGeom prst="roundRect">
            <a:avLst>
              <a:gd name="adj" fmla="val 3429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66928" y="16276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1938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</a:rPr>
              <a:t>RL drone policies are trained in idealized simulators. At deployment, real conditions diverge: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" y="242316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6928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💨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32688" y="24414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Wind gusts &amp; turbulence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" y="28986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6928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📡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32688" y="29169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Sensor noise &amp; dropout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" y="337413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⚙️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32688" y="3392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Actuator degradation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66928" y="384962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6928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🎯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2688" y="3867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Shifting mission waypoints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66928" y="4361688"/>
            <a:ext cx="3749040" cy="228600"/>
          </a:xfrm>
          <a:prstGeom prst="roundRect">
            <a:avLst>
              <a:gd name="adj" fmla="val 20000"/>
            </a:avLst>
          </a:prstGeom>
          <a:solidFill>
            <a:srgbClr val="200A00"/>
          </a:solidFill>
          <a:ln w="762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66928" y="43616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504D"/>
                </a:solidFill>
              </a:rPr>
              <a:t>Retrain = expensive   ·   Unconstrained adapt = catastrophic forgetting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709160" y="1463040"/>
            <a:ext cx="4069080" cy="3200400"/>
          </a:xfrm>
          <a:prstGeom prst="roundRect">
            <a:avLst>
              <a:gd name="adj" fmla="val 3429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92040" y="1627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Our Approach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892040" y="199339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92040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808"/>
                </a:solidFill>
              </a:rPr>
              <a:t>①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230368" y="1993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22A"/>
                </a:solidFill>
              </a:rPr>
              <a:t>DETECT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30368" y="22768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8080"/>
                </a:solidFill>
              </a:rPr>
              <a:t>Dual-signal confidence monitor — policy entropy + Monte Carlo dropout variance, calibrated on clean episodes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4892040" y="290779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92040" y="2907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808"/>
                </a:solidFill>
              </a:rPr>
              <a:t>②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230368" y="29077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22A"/>
                </a:solidFill>
              </a:rPr>
              <a:t>ADAPT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30368" y="31912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8080"/>
                </a:solidFill>
              </a:rPr>
              <a:t>Between-episode reward-weighted fine-tuning, gated by quality check (≥30 steps, mean reward ≥ −5)</a:t>
            </a:r>
            <a:endParaRPr lang="en-US" sz="980" dirty="0"/>
          </a:p>
        </p:txBody>
      </p:sp>
      <p:sp>
        <p:nvSpPr>
          <p:cNvPr id="35" name="Shape 32"/>
          <p:cNvSpPr/>
          <p:nvPr/>
        </p:nvSpPr>
        <p:spPr>
          <a:xfrm>
            <a:off x="4892040" y="382219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892040" y="3822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808"/>
                </a:solidFill>
              </a:rPr>
              <a:t>③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230368" y="3822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22A"/>
                </a:solidFill>
              </a:rPr>
              <a:t>PROTECT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230368" y="41056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08080"/>
                </a:solidFill>
              </a:rPr>
              <a:t>KL anchoring to frozen policy + clean replay mixing (20%) + EWC regularization</a:t>
            </a:r>
            <a:endParaRPr lang="en-US" sz="980" dirty="0"/>
          </a:p>
        </p:txBody>
      </p:sp>
      <p:sp>
        <p:nvSpPr>
          <p:cNvPr id="39" name="Shape 36"/>
          <p:cNvSpPr/>
          <p:nvPr/>
        </p:nvSpPr>
        <p:spPr>
          <a:xfrm>
            <a:off x="4892040" y="4361688"/>
            <a:ext cx="3703320" cy="228600"/>
          </a:xfrm>
          <a:prstGeom prst="roundRect">
            <a:avLst>
              <a:gd name="adj" fmla="val 20000"/>
            </a:avLst>
          </a:prstGeom>
          <a:solidFill>
            <a:srgbClr val="0A1A0F"/>
          </a:solidFill>
          <a:ln w="7620">
            <a:solidFill>
              <a:srgbClr val="4CA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892040" y="436168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AF82"/>
                </a:solidFill>
              </a:rPr>
              <a:t>Goal: retain clean skill · partially recover from surprise · no retraining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84048" y="256032"/>
            <a:ext cx="1422806" cy="201168"/>
          </a:xfrm>
          <a:prstGeom prst="roundRect">
            <a:avLst>
              <a:gd name="adj" fmla="val 27273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256032"/>
            <a:ext cx="14228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9922A"/>
                </a:solidFill>
              </a:rPr>
              <a:t>TASK &amp; ENVIRONMENT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FormationAviary — Two-Drone Formation in PyBullet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1097280" cy="25603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417320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111111"/>
          </a:solidFill>
          <a:ln w="10160">
            <a:solidFill>
              <a:srgbClr val="C9922A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44475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DFA0"/>
                </a:solidFill>
              </a:rPr>
              <a:t>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84048" y="20665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08080"/>
                </a:solidFill>
              </a:rPr>
              <a:t>CF2X Drones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08080"/>
                </a:solidFill>
              </a:rPr>
              <a:t>Shared-policy IPPO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36976" y="1417320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111111"/>
          </a:solidFill>
          <a:ln w="10160">
            <a:solidFill>
              <a:srgbClr val="C9922A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36976" y="144475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DFA0"/>
                </a:solidFill>
              </a:rPr>
              <a:t>450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36976" y="20665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08080"/>
                </a:solidFill>
              </a:rPr>
              <a:t>Control Steps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08080"/>
                </a:solidFill>
              </a:rPr>
              <a:t>(15 s simulated)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89904" y="1417320"/>
            <a:ext cx="2651760" cy="1024128"/>
          </a:xfrm>
          <a:prstGeom prst="roundRect">
            <a:avLst>
              <a:gd name="adj" fmla="val 8929"/>
            </a:avLst>
          </a:prstGeom>
          <a:solidFill>
            <a:srgbClr val="111111"/>
          </a:solidFill>
          <a:ln w="10160">
            <a:solidFill>
              <a:srgbClr val="C9922A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9904" y="144475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DFA0"/>
                </a:solidFill>
              </a:rPr>
              <a:t>75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089904" y="20665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08080"/>
                </a:solidFill>
              </a:rPr>
              <a:t>Obs. dims / drone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08080"/>
                </a:solidFill>
              </a:rPr>
              <a:t>Kinematics + waypoint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2633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</a:rPr>
              <a:t>Post-Training Surprise Suite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2907792"/>
          <a:ext cx="4846320" cy="1920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9922A"/>
                          </a:solidFill>
                        </a:rPr>
                        <a:t>Severity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9922A"/>
                          </a:solidFill>
                        </a:rPr>
                        <a:t>Wind (N)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9922A"/>
                          </a:solidFill>
                        </a:rPr>
                        <a:t>Sensor σ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9922A"/>
                          </a:solidFill>
                        </a:rPr>
                        <a:t>Actuator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9922A"/>
                          </a:solidFill>
                        </a:rPr>
                        <a:t>Goal shift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CAF82"/>
                          </a:solidFill>
                        </a:rPr>
                        <a:t>Clean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0.00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8B84B"/>
                          </a:solidFill>
                        </a:rPr>
                        <a:t>Mild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0.02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0.01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1.00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08020"/>
                          </a:solidFill>
                        </a:rPr>
                        <a:t>Moderate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0.05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0.02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0.85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0504D"/>
                          </a:solidFill>
                        </a:rPr>
                        <a:t>Severe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0.10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0.05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0.70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CCCCCC"/>
                          </a:solidFill>
                        </a:rPr>
                        <a:t>p=0.001</a:t>
                      </a:r>
                      <a:endParaRPr lang="en-US" sz="95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413248" y="2542032"/>
            <a:ext cx="3337560" cy="22860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577840" y="26700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</a:rPr>
              <a:t>Reward Components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7784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📍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88736" y="2999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Waypoint tracking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888736" y="31729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max(0, 2−2·dist) + 10 bonus/drone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577840" y="3438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📐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888736" y="34381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Formation keeping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888736" y="36118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penalty ∝ spacing deviation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77840" y="3877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💚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888736" y="38770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Alive bonus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888736" y="4050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+0.2 per timestep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577840" y="4315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⚠️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888736" y="431596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Boundary penalty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888736" y="448970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low-alt/tilt ramp; truncation OOB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84048" y="4773168"/>
            <a:ext cx="8394192" cy="201168"/>
          </a:xfrm>
          <a:prstGeom prst="roundRect">
            <a:avLst>
              <a:gd name="adj" fmla="val 22727"/>
            </a:avLst>
          </a:prstGeom>
          <a:solidFill>
            <a:srgbClr val="120D00"/>
          </a:solidFill>
          <a:ln w="635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02920" y="47823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9922A"/>
                </a:solidFill>
              </a:rPr>
              <a:t>Note  </a:t>
            </a:r>
            <a:r>
              <a:rPr lang="en-US" sz="880" dirty="0">
                <a:solidFill>
                  <a:srgbClr val="808080"/>
                </a:solidFill>
              </a:rPr>
              <a:t>Baseline trained on clean episodes only — surprises injected only at evaluation time.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84048" y="256032"/>
            <a:ext cx="632765" cy="201168"/>
          </a:xfrm>
          <a:prstGeom prst="roundRect">
            <a:avLst>
              <a:gd name="adj" fmla="val 27273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256032"/>
            <a:ext cx="6327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9922A"/>
                </a:solidFill>
              </a:rPr>
              <a:t>METHOD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Confidence-Triggered Adaptation Loop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1097280" cy="25603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54480"/>
            <a:ext cx="2103120" cy="2103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1371600"/>
            <a:ext cx="4251960" cy="1664208"/>
          </a:xfrm>
          <a:prstGeom prst="roundRect">
            <a:avLst>
              <a:gd name="adj" fmla="val 6044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84048" y="1371600"/>
            <a:ext cx="36576" cy="1664208"/>
          </a:xfrm>
          <a:prstGeom prst="roundRect">
            <a:avLst>
              <a:gd name="adj" fmla="val 50000"/>
            </a:avLst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12064" y="14996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12064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808"/>
                </a:solidFill>
              </a:rPr>
              <a:t>①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7824" y="1508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22A"/>
                </a:solidFill>
              </a:rPr>
              <a:t>Deploy &amp; Monitor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1847088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Policy initialized from the clean baseline runs episodes in surprised env</a:t>
            </a:r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Policy entropy computed per-step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MC-dropout variance estimated (10 forward passes)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Rolling confidence tracked over a 30-reading window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4818888" y="1371600"/>
            <a:ext cx="4251960" cy="1664208"/>
          </a:xfrm>
          <a:prstGeom prst="roundRect">
            <a:avLst>
              <a:gd name="adj" fmla="val 6044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18888" y="1371600"/>
            <a:ext cx="36576" cy="1664208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946904" y="149961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46904" y="1499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808"/>
                </a:solidFill>
              </a:rPr>
              <a:t>②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12664" y="15087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Confidence Check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83480" y="1847088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Episode usable if ≥ 30 steps AND mean reward ≥ −5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Adaptation fires when rolling OR episode confidence is low AND replay buffer is populated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Otherwise: skip (avoid learning from crashes)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384048" y="3154680"/>
            <a:ext cx="4251960" cy="1664208"/>
          </a:xfrm>
          <a:prstGeom prst="roundRect">
            <a:avLst>
              <a:gd name="adj" fmla="val 6044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84048" y="3154680"/>
            <a:ext cx="36576" cy="1664208"/>
          </a:xfrm>
          <a:prstGeom prst="roundRect">
            <a:avLst>
              <a:gd name="adj" fmla="val 50000"/>
            </a:avLst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12064" y="32826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12064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808"/>
                </a:solidFill>
              </a:rPr>
              <a:t>③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77824" y="32918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22A"/>
                </a:solidFill>
              </a:rPr>
              <a:t>Adaptation Update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3630168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Reward-weighted behavior cloning on recent buffer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Higher-rewarded transitions → larger gradient weight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5 epochs, LR = 1×10⁻⁴, applied between episodes only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4818888" y="3154680"/>
            <a:ext cx="4251960" cy="1664208"/>
          </a:xfrm>
          <a:prstGeom prst="roundRect">
            <a:avLst>
              <a:gd name="adj" fmla="val 6044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818888" y="3154680"/>
            <a:ext cx="36576" cy="1664208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946904" y="3282696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946904" y="3282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808"/>
                </a:solidFill>
              </a:rPr>
              <a:t>④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312664" y="32918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Anti-Forgetting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3630168"/>
            <a:ext cx="39502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KL anchoring to frozen clean policy (β = 0.5)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Clean replay mixing (20 % of every minibatch)</a:t>
            </a:r>
            <a:endParaRPr lang="en-US" sz="980" dirty="0"/>
          </a:p>
          <a:p>
            <a:pPr marL="342900" indent="-342900">
              <a:buSzPct val="100000"/>
              <a:buChar char="•"/>
            </a:pPr>
            <a:r>
              <a:rPr lang="en-US" sz="980" dirty="0">
                <a:solidFill>
                  <a:srgbClr val="CCCCCC"/>
                </a:solidFill>
              </a:rPr>
              <a:t>EWC: penalise changes to high-Fisher parameters (λ = 1000)</a:t>
            </a:r>
            <a:endParaRPr lang="en-US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84048" y="256032"/>
            <a:ext cx="698602" cy="201168"/>
          </a:xfrm>
          <a:prstGeom prst="roundRect">
            <a:avLst>
              <a:gd name="adj" fmla="val 27273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256032"/>
            <a:ext cx="6986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9922A"/>
                </a:solidFill>
              </a:rPr>
              <a:t>RESULTS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vs. Frozen Baseline — Partial Robustness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1097280" cy="25603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353312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353312"/>
            <a:ext cx="36576" cy="768096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Clean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82"/>
                </a:solidFill>
              </a:rPr>
              <a:t>+4.1%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21408" y="14447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Frozen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21408" y="16276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CCCC"/>
                </a:solidFill>
              </a:rPr>
              <a:t>1305.2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18688" y="14447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Lifelong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18688" y="16276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82"/>
                </a:solidFill>
              </a:rPr>
              <a:t>1358.9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4048" y="2231136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4048" y="2231136"/>
            <a:ext cx="36576" cy="768096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2295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Mild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2542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B84B"/>
                </a:solidFill>
              </a:rPr>
              <a:t>+50.8%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121408" y="23225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Frozen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121408" y="2505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CCCC"/>
                </a:solidFill>
              </a:rPr>
              <a:t>105.9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18688" y="23225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Lifelong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18688" y="2505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</a:rPr>
              <a:t>159.7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4048" y="3108960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048" y="3108960"/>
            <a:ext cx="36576" cy="768096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1729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Moderate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4198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504D"/>
                </a:solidFill>
              </a:rPr>
              <a:t>−8.5%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121408" y="32004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Frozen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21408" y="33832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CCCC"/>
                </a:solidFill>
              </a:rPr>
              <a:t>49.4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18688" y="32004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Lifelong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18688" y="33832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04D"/>
                </a:solidFill>
              </a:rPr>
              <a:t>45.2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84048" y="3986784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4048" y="3986784"/>
            <a:ext cx="36576" cy="768096"/>
          </a:xfrm>
          <a:prstGeom prst="roundRect">
            <a:avLst>
              <a:gd name="adj" fmla="val 50000"/>
            </a:avLst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40507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Severe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4297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922A"/>
                </a:solidFill>
              </a:rPr>
              <a:t>+54.7%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2121408" y="40782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Frozen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121408" y="42611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CCCCC"/>
                </a:solidFill>
              </a:rPr>
              <a:t>27.3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218688" y="40782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Lifelong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18688" y="42611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22A"/>
                </a:solidFill>
              </a:rPr>
              <a:t>42.2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736592" y="1316736"/>
            <a:ext cx="4069080" cy="3511296"/>
          </a:xfrm>
          <a:prstGeom prst="roundRect">
            <a:avLst>
              <a:gd name="adj" fmla="val 2604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0" descr="/home/claude/project/confidence-triggered-swarm-main/runs/professor_ready/fig1_frozen_vs_lifel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408176"/>
            <a:ext cx="3886200" cy="2962656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384048" y="4773168"/>
            <a:ext cx="8394192" cy="201168"/>
          </a:xfrm>
          <a:prstGeom prst="roundRect">
            <a:avLst>
              <a:gd name="adj" fmla="val 22727"/>
            </a:avLst>
          </a:prstGeom>
          <a:solidFill>
            <a:srgbClr val="120D00"/>
          </a:solidFill>
          <a:ln w="635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02920" y="47823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C9922A"/>
                </a:solidFill>
              </a:rPr>
              <a:t>Honest note  </a:t>
            </a:r>
            <a:r>
              <a:rPr lang="en-US" sz="880" dirty="0">
                <a:solidFill>
                  <a:srgbClr val="808080"/>
                </a:solidFill>
              </a:rPr>
              <a:t>Single seed (seed = 42). Moderate severity regresses. Results are directional, not statistically definitive.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84048" y="256032"/>
            <a:ext cx="1488643" cy="201168"/>
          </a:xfrm>
          <a:prstGeom prst="roundRect">
            <a:avLst>
              <a:gd name="adj" fmla="val 27273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256032"/>
            <a:ext cx="148864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9922A"/>
                </a:solidFill>
              </a:rPr>
              <a:t>FORGETTING ANALYSIS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Catastrophic Forgetting After Severe Adaptation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1097280" cy="25603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3716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roject/confidence-triggered-swarm-main/runs/professor_ready/fig4_forget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44752"/>
            <a:ext cx="5074920" cy="25786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33872" y="1371600"/>
            <a:ext cx="2971800" cy="1234440"/>
          </a:xfrm>
          <a:prstGeom prst="roundRect">
            <a:avLst>
              <a:gd name="adj" fmla="val 7407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98464" y="14630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8080"/>
                </a:solidFill>
              </a:rPr>
              <a:t>Before Adaptation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98464" y="166420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1308.9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998464" y="22128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</a:rPr>
              <a:t>clean reward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833872" y="2761488"/>
            <a:ext cx="2971800" cy="1234440"/>
          </a:xfrm>
          <a:prstGeom prst="roundRect">
            <a:avLst>
              <a:gd name="adj" fmla="val 7407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98464" y="2852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8080"/>
                </a:solidFill>
              </a:rPr>
              <a:t>After Severe Adaptation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998464" y="30540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CAF82"/>
                </a:solidFill>
              </a:rPr>
              <a:t>1386.1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5998464" y="36027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CAF82"/>
                </a:solidFill>
              </a:rPr>
              <a:t>clean reward  (+5.9%)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833872" y="4078224"/>
            <a:ext cx="2971800" cy="402336"/>
          </a:xfrm>
          <a:prstGeom prst="roundRect">
            <a:avLst>
              <a:gd name="adj" fmla="val 22727"/>
            </a:avLst>
          </a:prstGeom>
          <a:solidFill>
            <a:srgbClr val="0A1A0F"/>
          </a:solidFill>
          <a:ln w="15240">
            <a:solidFill>
              <a:srgbClr val="4CA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33872" y="407822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AF82"/>
                </a:solidFill>
              </a:rPr>
              <a:t>forgetting_detected: false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2062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 dirty="0">
                <a:solidFill>
                  <a:srgbClr val="808080"/>
                </a:solidFill>
              </a:rPr>
              <a:t>With KL anchoring, clean replay, and EWC active, clean performance was retained even after adapting to the hardest surprise condition. Waypoints slightly lower — reported as retention, not improvement.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84048" y="256032"/>
            <a:ext cx="1422806" cy="201168"/>
          </a:xfrm>
          <a:prstGeom prst="roundRect">
            <a:avLst>
              <a:gd name="adj" fmla="val 27273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256032"/>
            <a:ext cx="142280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9922A"/>
                </a:solidFill>
              </a:rPr>
              <a:t>CONTINUAL LEARNING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Adaptation Matrix — Clean Re-Tested at Every Phase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1097280" cy="25603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371600"/>
            <a:ext cx="5394960" cy="2359152"/>
          </a:xfrm>
          <a:prstGeom prst="roundRect">
            <a:avLst>
              <a:gd name="adj" fmla="val 3876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roject/confidence-triggered-swarm-main/runs/professor_ready/fig6_continual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44752"/>
            <a:ext cx="5230368" cy="219456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3794760"/>
          <a:ext cx="5394960" cy="11887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9922A"/>
                          </a:solidFill>
                        </a:rPr>
                        <a:t>Phase →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9922A"/>
                          </a:solidFill>
                        </a:rPr>
                        <a:t>Clean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9922A"/>
                          </a:solidFill>
                        </a:rPr>
                        <a:t>Mild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9922A"/>
                          </a:solidFill>
                        </a:rPr>
                        <a:t>Moderate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C9922A"/>
                          </a:solidFill>
                        </a:rPr>
                        <a:t>Severe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After Clean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CAF82"/>
                          </a:solidFill>
                        </a:rPr>
                        <a:t>1316.0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146.9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48.1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38.5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After Mild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CAF82"/>
                          </a:solidFill>
                        </a:rPr>
                        <a:t>1261.3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143.5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94.9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21.5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After Moderate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CAF82"/>
                          </a:solidFill>
                        </a:rPr>
                        <a:t>1406.2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159.2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40.3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31.8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After Severe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CAF82"/>
                          </a:solidFill>
                        </a:rPr>
                        <a:t>1322.9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131.2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92.0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CCCCCC"/>
                          </a:solidFill>
                        </a:rPr>
                        <a:t>26.1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72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61888" y="1371600"/>
            <a:ext cx="2834640" cy="3611880"/>
          </a:xfrm>
          <a:prstGeom prst="roundRect">
            <a:avLst>
              <a:gd name="adj" fmla="val 3548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126480" y="149961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</a:rPr>
              <a:t>CL Metrics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792224"/>
            <a:ext cx="2505456" cy="25603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126480" y="1938528"/>
            <a:ext cx="420624" cy="237744"/>
          </a:xfrm>
          <a:prstGeom prst="roundRect">
            <a:avLst>
              <a:gd name="adj" fmla="val 19231"/>
            </a:avLst>
          </a:prstGeom>
          <a:solidFill>
            <a:srgbClr val="191919"/>
          </a:solidFill>
          <a:ln w="7620">
            <a:solidFill>
              <a:srgbClr val="4CA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126480" y="1938528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CAF82"/>
                </a:solidFill>
              </a:rPr>
              <a:t>BWT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6620256" y="1956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Backward Transfer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046720" y="195681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AF82"/>
                </a:solidFill>
              </a:rPr>
              <a:t>+15.4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2523744"/>
            <a:ext cx="420624" cy="237744"/>
          </a:xfrm>
          <a:prstGeom prst="roundRect">
            <a:avLst>
              <a:gd name="adj" fmla="val 19231"/>
            </a:avLst>
          </a:prstGeom>
          <a:solidFill>
            <a:srgbClr val="191919"/>
          </a:solidFill>
          <a:ln w="7620">
            <a:solidFill>
              <a:srgbClr val="4CA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126480" y="2523744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CAF82"/>
                </a:solidFill>
              </a:rPr>
              <a:t>FWT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6620256" y="25420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Forward Transfer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046720" y="25420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CAF82"/>
                </a:solidFill>
              </a:rPr>
              <a:t>+17.2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126480" y="3108960"/>
            <a:ext cx="420624" cy="237744"/>
          </a:xfrm>
          <a:prstGeom prst="roundRect">
            <a:avLst>
              <a:gd name="adj" fmla="val 19231"/>
            </a:avLst>
          </a:prstGeom>
          <a:solidFill>
            <a:srgbClr val="191919"/>
          </a:solidFill>
          <a:ln w="762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126480" y="3108960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8B84B"/>
                </a:solidFill>
              </a:rPr>
              <a:t>REM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6620256" y="31272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Remembering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046720" y="312724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B84B"/>
                </a:solidFill>
              </a:rPr>
              <a:t>1.00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126480" y="3694176"/>
            <a:ext cx="420624" cy="237744"/>
          </a:xfrm>
          <a:prstGeom prst="roundRect">
            <a:avLst>
              <a:gd name="adj" fmla="val 19231"/>
            </a:avLst>
          </a:prstGeom>
          <a:solidFill>
            <a:srgbClr val="191919"/>
          </a:solidFill>
          <a:ln w="762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126480" y="3694176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08080"/>
                </a:solidFill>
              </a:rPr>
              <a:t>FAR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620256" y="37124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Final Avg Reward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046720" y="37124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08080"/>
                </a:solidFill>
              </a:rPr>
              <a:t>393.1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126480" y="4279392"/>
            <a:ext cx="420624" cy="237744"/>
          </a:xfrm>
          <a:prstGeom prst="roundRect">
            <a:avLst>
              <a:gd name="adj" fmla="val 19231"/>
            </a:avLst>
          </a:prstGeom>
          <a:solidFill>
            <a:srgbClr val="191919"/>
          </a:solidFill>
          <a:ln w="762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126480" y="4279392"/>
            <a:ext cx="420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44444"/>
                </a:solidFill>
              </a:rPr>
              <a:t>FRZ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6620256" y="42976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Frozen Reference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8046720" y="42976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44444"/>
                </a:solidFill>
              </a:rPr>
              <a:t>412.9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126480" y="468172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08080"/>
                </a:solidFill>
              </a:rPr>
              <a:t>Clean column stable across all phases — the core forgetting test.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84048" y="256032"/>
            <a:ext cx="1159459" cy="201168"/>
          </a:xfrm>
          <a:prstGeom prst="roundRect">
            <a:avLst>
              <a:gd name="adj" fmla="val 27273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256032"/>
            <a:ext cx="11594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9922A"/>
                </a:solidFill>
              </a:rPr>
              <a:t>ABLATION STUDY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84048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Safeguards: Stability vs. Peak Reward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1097280" cy="25603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371600"/>
            <a:ext cx="5120640" cy="2980944"/>
          </a:xfrm>
          <a:prstGeom prst="roundRect">
            <a:avLst>
              <a:gd name="adj" fmla="val 3067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project/confidence-triggered-swarm-main/runs/professor_ready/fig3_abl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44752"/>
            <a:ext cx="4956048" cy="28163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0" y="1371600"/>
            <a:ext cx="3127248" cy="667512"/>
          </a:xfrm>
          <a:prstGeom prst="roundRect">
            <a:avLst>
              <a:gd name="adj" fmla="val 12329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69280" y="1371600"/>
            <a:ext cx="36576" cy="667512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15584" y="14264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AF82"/>
                </a:solidFill>
              </a:rPr>
              <a:t>Full Method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15584" y="16459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Lowest variance under severe surprise. Clean guardrails remain active.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0" y="2148840"/>
            <a:ext cx="3127248" cy="667512"/>
          </a:xfrm>
          <a:prstGeom prst="roundRect">
            <a:avLst>
              <a:gd name="adj" fmla="val 12329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69280" y="2148840"/>
            <a:ext cx="36576" cy="667512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15584" y="22037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B84B"/>
                </a:solidFill>
              </a:rPr>
              <a:t>No EWC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815584" y="24231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Higher mean, higher variance. Weakens the intended forgetting guardrail (not directly measured).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669280" y="2926080"/>
            <a:ext cx="3127248" cy="667512"/>
          </a:xfrm>
          <a:prstGeom prst="roundRect">
            <a:avLst>
              <a:gd name="adj" fmla="val 12329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669280" y="2926080"/>
            <a:ext cx="36576" cy="667512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15584" y="2980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B84B"/>
                </a:solidFill>
              </a:rPr>
              <a:t>No KL Anchor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815584" y="32004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Can spike mean reward, but weakens the intended forgetting guardrail.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69280" y="3703320"/>
            <a:ext cx="3127248" cy="667512"/>
          </a:xfrm>
          <a:prstGeom prst="roundRect">
            <a:avLst>
              <a:gd name="adj" fmla="val 12329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669280" y="3703320"/>
            <a:ext cx="36576" cy="667512"/>
          </a:xfrm>
          <a:prstGeom prst="roundRect">
            <a:avLst>
              <a:gd name="adj" fmla="val 50000"/>
            </a:avLst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815584" y="37581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08080"/>
                </a:solidFill>
              </a:rPr>
              <a:t>No Replay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815584" y="39776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Mid-range variance. Less stable than full method.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84048" y="4462272"/>
            <a:ext cx="8394192" cy="420624"/>
          </a:xfrm>
          <a:prstGeom prst="roundRect">
            <a:avLst>
              <a:gd name="adj" fmla="val 21739"/>
            </a:avLst>
          </a:prstGeom>
          <a:solidFill>
            <a:srgbClr val="120D00"/>
          </a:solidFill>
          <a:ln w="889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30352" y="44897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22A"/>
                </a:solidFill>
              </a:rPr>
              <a:t>Takeaway  </a:t>
            </a:r>
            <a:r>
              <a:rPr lang="en-US" sz="1000" dirty="0">
                <a:solidFill>
                  <a:srgbClr val="CCCCCC"/>
                </a:solidFill>
              </a:rPr>
              <a:t>Safeguards reduce variance at the cost of peak reward. The true bottleneck is adaptation trigger sensitivity and episode-quality gating, not the choice of safeguard.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84048" y="256032"/>
            <a:ext cx="501091" cy="201168"/>
          </a:xfrm>
          <a:prstGeom prst="roundRect">
            <a:avLst>
              <a:gd name="adj" fmla="val 27273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4048" y="256032"/>
            <a:ext cx="5010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20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TEAM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4048" y="54864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Author Contributions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1097280" cy="25603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71600"/>
            <a:ext cx="2560320" cy="2560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84048" y="1371600"/>
            <a:ext cx="2706624" cy="3200400"/>
          </a:xfrm>
          <a:prstGeom prst="roundRect">
            <a:avLst>
              <a:gd name="adj" fmla="val 4392"/>
            </a:avLst>
          </a:prstGeom>
          <a:solidFill>
            <a:srgbClr val="111111"/>
          </a:solidFill>
          <a:ln w="10160">
            <a:solidFill>
              <a:srgbClr val="C9922A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1463040"/>
            <a:ext cx="658368" cy="658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" y="217627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Tanush Vijayakumar Savadi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75488" y="25146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tsavadi@umass.edu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75488" y="2743200"/>
            <a:ext cx="2523744" cy="219456"/>
          </a:xfrm>
          <a:prstGeom prst="roundRect">
            <a:avLst>
              <a:gd name="adj" fmla="val 25000"/>
            </a:avLst>
          </a:prstGeom>
          <a:solidFill>
            <a:srgbClr val="161000"/>
          </a:solidFill>
          <a:ln w="6350">
            <a:solidFill>
              <a:srgbClr val="C992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75488" y="27432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Role: Implementation, experiments, and analysis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8640" y="3090672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Tx/>
              <a:buChar char="•"/>
              <a:defRPr/>
            </a:pPr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Built the codebase, including the environment setup, surprise wrapper, PPO/IPPO training, and evaluation scripts.</a:t>
            </a:r>
          </a:p>
          <a:p>
            <a:pPr marL="342900" indent="-342900">
              <a:buSzPct val="100000"/>
              <a:buFontTx/>
              <a:buChar char="•"/>
              <a:defRPr/>
            </a:pPr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Implemented the confidence monitor, between-episode adaptation loop, and anti-forgetting safeguards.</a:t>
            </a:r>
          </a:p>
          <a:p>
            <a:pPr marL="342900" indent="-342900">
              <a:buSzPct val="100000"/>
              <a:buFontTx/>
              <a:buChar char="•"/>
              <a:defRPr/>
            </a:pPr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Ran the main experiments, ablations, continual-learning evaluation, generated figures, and prepared the final slide deck.</a:t>
            </a:r>
          </a:p>
          <a:p>
            <a:pPr marL="342900" indent="-342900">
              <a:buSzPct val="100000"/>
              <a:buFontTx/>
              <a:buChar char="•"/>
              <a:defRPr/>
            </a:pPr>
            <a:r>
              <a:rPr lang="en-US" sz="900" dirty="0">
                <a:solidFill>
                  <a:schemeClr val="bg1"/>
                </a:solidFill>
                <a:latin typeface="Calibri" panose="020F0502020204030204"/>
              </a:rPr>
              <a:t>Made the check-in video and presentation</a:t>
            </a:r>
            <a:br>
              <a:rPr lang="en-US" sz="900" dirty="0">
                <a:solidFill>
                  <a:schemeClr val="bg1"/>
                </a:solidFill>
                <a:latin typeface="Calibri" panose="020F0502020204030204"/>
              </a:rPr>
            </a:br>
            <a:endParaRPr lang="en-US" sz="9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255264" y="1371600"/>
            <a:ext cx="2706624" cy="3200400"/>
          </a:xfrm>
          <a:prstGeom prst="roundRect">
            <a:avLst>
              <a:gd name="adj" fmla="val 4392"/>
            </a:avLst>
          </a:prstGeom>
          <a:solidFill>
            <a:srgbClr val="111111"/>
          </a:solidFill>
          <a:ln w="10160">
            <a:solidFill>
              <a:srgbClr val="C9922A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1463040"/>
            <a:ext cx="658368" cy="6583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46704" y="217627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Deveshi Singh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346704" y="25146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deveshisingh@umass.edu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3346704" y="2743200"/>
            <a:ext cx="2523744" cy="219456"/>
          </a:xfrm>
          <a:prstGeom prst="roundRect">
            <a:avLst>
              <a:gd name="adj" fmla="val 25000"/>
            </a:avLst>
          </a:prstGeom>
          <a:solidFill>
            <a:srgbClr val="161000"/>
          </a:solidFill>
          <a:ln w="6350">
            <a:solidFill>
              <a:srgbClr val="C992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3346704" y="27432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Role: Proposal and report support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3419856" y="3017520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Helped with project framing during the proposal stage.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Contributed to proposal/final-report writing and review.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Gave feedback on presentation organization and final project narrative.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6126480" y="1371600"/>
            <a:ext cx="2706624" cy="3200400"/>
          </a:xfrm>
          <a:prstGeom prst="roundRect">
            <a:avLst>
              <a:gd name="adj" fmla="val 4392"/>
            </a:avLst>
          </a:prstGeom>
          <a:solidFill>
            <a:srgbClr val="111111"/>
          </a:solidFill>
          <a:ln w="10160">
            <a:solidFill>
              <a:srgbClr val="C9922A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463040"/>
            <a:ext cx="658368" cy="6583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17920" y="217627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Ron Kleinhause-Goldman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6217920" y="25146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rkleinhauseg@umass.edu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6217920" y="2743200"/>
            <a:ext cx="2523744" cy="219456"/>
          </a:xfrm>
          <a:prstGeom prst="roundRect">
            <a:avLst>
              <a:gd name="adj" fmla="val 25000"/>
            </a:avLst>
          </a:prstGeom>
          <a:solidFill>
            <a:srgbClr val="161000"/>
          </a:solidFill>
          <a:ln w="6350">
            <a:solidFill>
              <a:srgbClr val="C992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6217920" y="2743200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C992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Role: Report and presentation support</a:t>
            </a:r>
          </a:p>
        </p:txBody>
      </p:sp>
      <p:sp>
        <p:nvSpPr>
          <p:cNvPr id="28" name="Text 22"/>
          <p:cNvSpPr/>
          <p:nvPr/>
        </p:nvSpPr>
        <p:spPr>
          <a:xfrm>
            <a:off x="6291072" y="3017520"/>
            <a:ext cx="2377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Helped with proposal/final-report writing and review.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Contributed feedback on how to explain the method and results clearly.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Helped refine the final presentation narrative.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2743200" y="502920"/>
            <a:ext cx="36576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" y="182880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191919"/>
          </a:solidFill>
          <a:ln w="762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84048" y="182880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C9922A"/>
                </a:solidFill>
              </a:rPr>
              <a:t>CONCLUSION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84048" y="47548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 Built &amp; Learned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84048" y="1033272"/>
            <a:ext cx="1371600" cy="25603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84048" y="1225296"/>
            <a:ext cx="4206240" cy="27432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84048" y="1225296"/>
            <a:ext cx="36576" cy="2743200"/>
          </a:xfrm>
          <a:prstGeom prst="roundRect">
            <a:avLst>
              <a:gd name="adj" fmla="val 50000"/>
            </a:avLst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6928" y="13350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82"/>
                </a:solidFill>
              </a:rPr>
              <a:t>✅  Achieved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1645920"/>
            <a:ext cx="374904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</a:rPr>
              <a:t>Full pipeline: train → surprise-test → adapt → audit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</a:rPr>
              <a:t>Clean-skill retention in the forgetting probe and continual matrix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</a:rPr>
              <a:t>Partial robustness: +50.8% mild, +54.7% severe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</a:rPr>
              <a:t>Sequential CL matrix (BWT +15.4, FWT +17.2, Remembering 1.0)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</a:rPr>
              <a:t>Novelty: post-training surprise benchmark + dual-signal confidence trigger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73168" y="1225296"/>
            <a:ext cx="4005072" cy="27432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6350">
            <a:solidFill>
              <a:srgbClr val="272727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73168" y="1225296"/>
            <a:ext cx="36576" cy="27432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56048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04D"/>
                </a:solidFill>
              </a:rPr>
              <a:t>⚠️  Limitations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56048" y="1645920"/>
            <a:ext cx="356616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</a:rPr>
              <a:t>Single seed (seed = 42) — no statistical confidence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</a:rPr>
              <a:t>Only 2 drones — scalability unknown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</a:rPr>
              <a:t>Moderate severity regresses −8.5%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</a:rPr>
              <a:t>Conservative trigger: ~2% adaptation rate in main run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CCCCC"/>
                </a:solidFill>
              </a:rPr>
              <a:t>Simplified PyBullet physics, not real hardware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4048" y="4059936"/>
            <a:ext cx="8394192" cy="713232"/>
          </a:xfrm>
          <a:prstGeom prst="roundRect">
            <a:avLst>
              <a:gd name="adj" fmla="val 14103"/>
            </a:avLst>
          </a:prstGeom>
          <a:solidFill>
            <a:srgbClr val="111111"/>
          </a:solidFill>
          <a:ln w="10160">
            <a:solidFill>
              <a:srgbClr val="C9922A"/>
            </a:solidFill>
            <a:prstDash val="solid"/>
          </a:ln>
          <a:effectLst>
            <a:outerShdw blurRad="177800" dist="38100" dir="81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" y="4133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922A"/>
                </a:solidFill>
              </a:rPr>
              <a:t>Future Work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6928" y="4361688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Multi-seed validation  ·  Larger swarms (4+ drones)  ·  Stronger adaptation objectives  ·  Peer-help mechanisms between drones  ·  Sim-to-real transfer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1043</Words>
  <Application>Microsoft Macintosh PowerPoint</Application>
  <PresentationFormat>On-screen Show (16:9)</PresentationFormat>
  <Paragraphs>245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Confidence-Triggered Lifelong Adaptation for Drone Swarms</dc:title>
  <dc:subject>PptxGenJS Presentation</dc:subject>
  <dc:creator>PptxGenJS</dc:creator>
  <cp:lastModifiedBy>Tanush Savadi</cp:lastModifiedBy>
  <cp:revision>12</cp:revision>
  <dcterms:created xsi:type="dcterms:W3CDTF">2026-05-04T02:02:17Z</dcterms:created>
  <dcterms:modified xsi:type="dcterms:W3CDTF">2026-05-04T03:21:32Z</dcterms:modified>
</cp:coreProperties>
</file>