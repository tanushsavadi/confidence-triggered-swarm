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503c5c4a1449e" /><Relationship Type="http://schemas.openxmlformats.org/officeDocument/2006/relationships/extended-properties" Target="/docProps/app.xml" Id="R89feeb1dffd94e64" /><Relationship Type="http://schemas.openxmlformats.org/officeDocument/2006/relationships/officeDocument" Target="/ppt/presentation.xml" Id="R701b924cc2cb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67cb6775fb41cd"/>
  </p:sldMasterIdLst>
  <p:notesMasterIdLst>
    <p:notesMasterId xmlns:r="http://schemas.openxmlformats.org/officeDocument/2006/relationships" r:id="R0098943e485b4ee6"/>
  </p:notesMasterIdLst>
  <p:sldIdLst>
    <p:sldId xmlns:r="http://schemas.openxmlformats.org/officeDocument/2006/relationships" id="256" r:id="Re377f835a7384c6c"/>
    <p:sldId xmlns:r="http://schemas.openxmlformats.org/officeDocument/2006/relationships" id="257" r:id="R1ea1e13eade648ea"/>
    <p:sldId xmlns:r="http://schemas.openxmlformats.org/officeDocument/2006/relationships" id="258" r:id="R83125fb4747041c6"/>
    <p:sldId xmlns:r="http://schemas.openxmlformats.org/officeDocument/2006/relationships" id="259" r:id="R5e508c17a54a43d1"/>
    <p:sldId xmlns:r="http://schemas.openxmlformats.org/officeDocument/2006/relationships" id="260" r:id="R9881412261ac4622"/>
    <p:sldId xmlns:r="http://schemas.openxmlformats.org/officeDocument/2006/relationships" id="261" r:id="R97218651047c45c5"/>
    <p:sldId xmlns:r="http://schemas.openxmlformats.org/officeDocument/2006/relationships" id="262" r:id="Rda8df6fae7f84557"/>
    <p:sldId xmlns:r="http://schemas.openxmlformats.org/officeDocument/2006/relationships" id="263" r:id="Rcddee5a324614fa0"/>
    <p:sldId xmlns:r="http://schemas.openxmlformats.org/officeDocument/2006/relationships" id="264" r:id="R5d88b50f24044698"/>
    <p:sldId xmlns:r="http://schemas.openxmlformats.org/officeDocument/2006/relationships" id="265" r:id="Rc557746a62fa44ab"/>
    <p:sldId xmlns:r="http://schemas.openxmlformats.org/officeDocument/2006/relationships" id="266" r:id="Ref2e8571e9f74003"/>
    <p:sldId xmlns:r="http://schemas.openxmlformats.org/officeDocument/2006/relationships" id="267" r:id="Rc896db4ec0f049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7cb6775fb41cd" /><Relationship Type="http://schemas.openxmlformats.org/officeDocument/2006/relationships/theme" Target="/ppt/theme/theme1.xml" Id="R3739189151414304" /><Relationship Type="http://schemas.openxmlformats.org/officeDocument/2006/relationships/notesMaster" Target="/ppt/notesMasters/notesMaster1.xml" Id="R0098943e485b4ee6" /><Relationship Type="http://schemas.openxmlformats.org/officeDocument/2006/relationships/presProps" Target="/ppt/presProps.xml" Id="Rbe08e206678b458a" /><Relationship Type="http://schemas.openxmlformats.org/officeDocument/2006/relationships/viewProps" Target="/ppt/viewProps.xml" Id="Rc7575b3f35ed417a" /><Relationship Type="http://schemas.openxmlformats.org/officeDocument/2006/relationships/tableStyles" Target="/ppt/tableStyles.xml" Id="Rd46554998a3943cb" /><Relationship Type="http://schemas.openxmlformats.org/officeDocument/2006/relationships/slide" Target="/ppt/slides/slide1.xml" Id="Re377f835a7384c6c" /><Relationship Type="http://schemas.openxmlformats.org/officeDocument/2006/relationships/slide" Target="/ppt/slides/slide2.xml" Id="R1ea1e13eade648ea" /><Relationship Type="http://schemas.openxmlformats.org/officeDocument/2006/relationships/slide" Target="/ppt/slides/slide3.xml" Id="R83125fb4747041c6" /><Relationship Type="http://schemas.openxmlformats.org/officeDocument/2006/relationships/slide" Target="/ppt/slides/slide4.xml" Id="R5e508c17a54a43d1" /><Relationship Type="http://schemas.openxmlformats.org/officeDocument/2006/relationships/slide" Target="/ppt/slides/slide5.xml" Id="R9881412261ac4622" /><Relationship Type="http://schemas.openxmlformats.org/officeDocument/2006/relationships/slide" Target="/ppt/slides/slide6.xml" Id="R97218651047c45c5" /><Relationship Type="http://schemas.openxmlformats.org/officeDocument/2006/relationships/slide" Target="/ppt/slides/slide7.xml" Id="Rda8df6fae7f84557" /><Relationship Type="http://schemas.openxmlformats.org/officeDocument/2006/relationships/slide" Target="/ppt/slides/slide8.xml" Id="Rcddee5a324614fa0" /><Relationship Type="http://schemas.openxmlformats.org/officeDocument/2006/relationships/slide" Target="/ppt/slides/slide9.xml" Id="R5d88b50f24044698" /><Relationship Type="http://schemas.openxmlformats.org/officeDocument/2006/relationships/slide" Target="/ppt/slides/slide10.xml" Id="Rc557746a62fa44ab" /><Relationship Type="http://schemas.openxmlformats.org/officeDocument/2006/relationships/slide" Target="/ppt/slides/slide11.xml" Id="Ref2e8571e9f74003" /><Relationship Type="http://schemas.openxmlformats.org/officeDocument/2006/relationships/slide" Target="/ppt/slides/slide12.xml" Id="Rc896db4ec0f049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cb3cfdfaf048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3981b909a14ae9" /><Relationship Type="http://schemas.openxmlformats.org/officeDocument/2006/relationships/notesMaster" Target="/ppt/notesMasters/notesMaster1.xml" Id="R7e7732d8d22143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bb8aeb39334028" /><Relationship Type="http://schemas.openxmlformats.org/officeDocument/2006/relationships/notesMaster" Target="/ppt/notesMasters/notesMaster1.xml" Id="R668c565beb6d44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3ba4fd92c14bd3" /><Relationship Type="http://schemas.openxmlformats.org/officeDocument/2006/relationships/notesMaster" Target="/ppt/notesMasters/notesMaster1.xml" Id="Rb49179db441745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cd742be87a4dfb" /><Relationship Type="http://schemas.openxmlformats.org/officeDocument/2006/relationships/notesMaster" Target="/ppt/notesMasters/notesMaster1.xml" Id="R8846aa78ba1b49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44d7b9aa1c435b" /><Relationship Type="http://schemas.openxmlformats.org/officeDocument/2006/relationships/notesMaster" Target="/ppt/notesMasters/notesMaster1.xml" Id="R278e27bb592847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f26a0566ea470c" /><Relationship Type="http://schemas.openxmlformats.org/officeDocument/2006/relationships/notesMaster" Target="/ppt/notesMasters/notesMaster1.xml" Id="Rae549be746d84f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c66b18b4a045a0" /><Relationship Type="http://schemas.openxmlformats.org/officeDocument/2006/relationships/notesMaster" Target="/ppt/notesMasters/notesMaster1.xml" Id="R734185681fee47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f9abfaf10140e7" /><Relationship Type="http://schemas.openxmlformats.org/officeDocument/2006/relationships/notesMaster" Target="/ppt/notesMasters/notesMaster1.xml" Id="R18757c9ea4124b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fc1458a6f64206" /><Relationship Type="http://schemas.openxmlformats.org/officeDocument/2006/relationships/notesMaster" Target="/ppt/notesMasters/notesMaster1.xml" Id="R857325c598da4f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d5f3821c3740fc" /><Relationship Type="http://schemas.openxmlformats.org/officeDocument/2006/relationships/notesMaster" Target="/ppt/notesMasters/notesMaster1.xml" Id="R136f147aafb948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bfcf1d2763490c" /><Relationship Type="http://schemas.openxmlformats.org/officeDocument/2006/relationships/notesMaster" Target="/ppt/notesMasters/notesMaster1.xml" Id="Ra368f5df2d5442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92de41af814d99" /><Relationship Type="http://schemas.openxmlformats.org/officeDocument/2006/relationships/notesMaster" Target="/ppt/notesMasters/notesMaster1.xml" Id="R515f1582bd2c44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a0c65975a460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a56400121254b82" /><Relationship Type="http://schemas.openxmlformats.org/officeDocument/2006/relationships/slideLayout" Target="/ppt/slideLayouts/slideLayout2.xml" Id="R23c1ab00c0a54a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c1ab00c0a54a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6ac0f7e7384b03" /><Relationship Type="http://schemas.openxmlformats.org/officeDocument/2006/relationships/notesSlide" Target="/ppt/notesSlides/notesSlide1.xml" Id="R54ab3eecda3e48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8bf5f13004f25" /><Relationship Type="http://schemas.openxmlformats.org/officeDocument/2006/relationships/notesSlide" Target="/ppt/notesSlides/notesSlide2.xml" Id="Rd65d9c65203945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2186e01de4241" /><Relationship Type="http://schemas.openxmlformats.org/officeDocument/2006/relationships/image" Target="/ppt/media/image.png" Id="R3b77aeebcf2548b1" /><Relationship Type="http://schemas.openxmlformats.org/officeDocument/2006/relationships/notesSlide" Target="/ppt/notesSlides/notesSlide3.xml" Id="R6dbbad352d3e4d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87ba27ca2f4612" /><Relationship Type="http://schemas.openxmlformats.org/officeDocument/2006/relationships/notesSlide" Target="/ppt/notesSlides/notesSlide4.xml" Id="Refb77c583eb046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b2d55ac7224acb" /><Relationship Type="http://schemas.openxmlformats.org/officeDocument/2006/relationships/image" Target="/ppt/media/image2.png" Id="R8438f8d5aae7493f" /><Relationship Type="http://schemas.openxmlformats.org/officeDocument/2006/relationships/notesSlide" Target="/ppt/notesSlides/notesSlide5.xml" Id="R33c1986bd01d46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59163c235e4cd7" /><Relationship Type="http://schemas.openxmlformats.org/officeDocument/2006/relationships/image" Target="/ppt/media/image3.png" Id="R131bdafb3c9b4ad3" /><Relationship Type="http://schemas.openxmlformats.org/officeDocument/2006/relationships/notesSlide" Target="/ppt/notesSlides/notesSlide6.xml" Id="Ra2650ee59cd742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04408765f24208" /><Relationship Type="http://schemas.openxmlformats.org/officeDocument/2006/relationships/image" Target="/ppt/media/image4.png" Id="Rd9de9a00032c4ba2" /><Relationship Type="http://schemas.openxmlformats.org/officeDocument/2006/relationships/notesSlide" Target="/ppt/notesSlides/notesSlide7.xml" Id="Rbe70803cdded4b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7704301e8e4330" /><Relationship Type="http://schemas.openxmlformats.org/officeDocument/2006/relationships/image" Target="/ppt/media/image5.png" Id="R58d3998eaf6d4f33" /><Relationship Type="http://schemas.openxmlformats.org/officeDocument/2006/relationships/notesSlide" Target="/ppt/notesSlides/notesSlide8.xml" Id="Reb681783ad1c4e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0b038d9de544a9" /><Relationship Type="http://schemas.openxmlformats.org/officeDocument/2006/relationships/image" Target="/ppt/media/image6.png" Id="R5b5438872b354afc" /><Relationship Type="http://schemas.openxmlformats.org/officeDocument/2006/relationships/notesSlide" Target="/ppt/notesSlides/notesSlide9.xml" Id="Ra71b4b5c67a340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4a8370cda74358" /><Relationship Type="http://schemas.openxmlformats.org/officeDocument/2006/relationships/image" Target="/ppt/media/image7.png" Id="R34edb2e69d3e4a03" /><Relationship Type="http://schemas.openxmlformats.org/officeDocument/2006/relationships/notesSlide" Target="/ppt/notesSlides/notesSlide10.xml" Id="Ra99759b4b89242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294098bfec4289" /><Relationship Type="http://schemas.openxmlformats.org/officeDocument/2006/relationships/notesSlide" Target="/ppt/notesSlides/notesSlide11.xml" Id="Ree6b5bee1d3e45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6ae4faf0349c9" /><Relationship Type="http://schemas.openxmlformats.org/officeDocument/2006/relationships/notesSlide" Target="/ppt/notesSlides/notesSlide12.xml" Id="Rd02fd0e43d3f42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DF80C-C152-40BE-A848-1CEBBD8E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B3036-4711-42B2-8A95-D3B7BA4C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FINAL PRESENTATION | MAY 4,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38AC7-5E19-460E-9ADD-EC628226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Confidence-triggered lifelong adaptation for drone swarms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80C08-013E-4653-BBAD-6181592E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A 10-12 minute graduate-level talk on clean-trained PPO, post-training surprise, confidence-triggered adaptation, and forgetting audits.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B4AA5-9BA6-499F-9EE7-38D9F5EE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AD6BD-3EBE-46FB-92DC-7010B5B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3F506-EE9D-4C48-9497-492F3460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116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05B70-D602-4C29-97AB-38AA2B8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723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 train clean first, then test whether confidence-triggered adaptation can recover under surprise without forgetting clean flight.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97C7A-FEBD-4382-BAC5-F6E253D8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7EF"/>
                </a:solidFill>
                <a:latin typeface="Aptos"/>
                <a:ea typeface="Aptos"/>
                <a:cs typeface="Aptos"/>
              </a:rPr>
              <a:t>The claim is retention plus partial robustness, not a universal win over frozen PPO.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54F9A-9D4A-4662-B70A-7670D525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59C4F-2026-4255-A38B-EFF91288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rPr>
              <a:t>12 slides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2C62C-7A92-4074-B19F-B6BD3E39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20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10-12 minute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9F5CC-3518-4A72-AEEE-85340CCE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2038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target talk time: 11 minutes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6A050-938A-4224-9176-F51A51D8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053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4A980-B598-4417-B8E7-FC7F7A84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96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rPr>
              <a:t>Clean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3B6EC-747E-46CC-9962-16A2B33B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720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baseline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66D24-E5C8-4FD7-BFD1-8997538A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72100"/>
            <a:ext cx="2038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no surprise during 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152C7-A9CB-4335-8978-3E61C10C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053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3352D-C802-4A82-B953-7173986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8 figures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7EF9B-12F7-4286-81A7-F192F228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720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report/deck artifacts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2ACE8-028A-4914-8007-9ADEF36B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72100"/>
            <a:ext cx="2038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generated from canonical JSONs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C2C2E-A8EE-4B17-803B-B3E4906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6A90A-EB90-481B-8B80-90795C38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196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rPr>
              <a:t>Seed 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8CF68-4C3B-495B-B030-DFF23957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720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canonical results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B67BC-3DC1-4D03-9FE1-FD0C741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72100"/>
            <a:ext cx="2038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multi-seed validation is future work</a:t>
            </a:r>
          </a:p>
        </p:txBody>
      </p:sp>
    </p:spTree>
    <p:extLst>
      <p:ext uri="{BB962C8B-B14F-4D97-AF65-F5344CB8AC3E}">
        <p14:creationId xmlns:p14="http://schemas.microsoft.com/office/powerpoint/2010/main" val="16416685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EE2C75-E147-40AF-84CD-8900B389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13475-56D8-4933-8012-947AEFE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PROJECT ARC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73E02-6006-4292-B01F-250A49C1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The work built a full clean-train, surprise-test, adapt-and-audit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FF20A-44FB-4B47-AA96-A9C4517C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This slide is the whole process in one view: training code, surprise wrapper, confidence monitor, lifelong updates, and evaluation artifacts.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DB293-95B9-446C-8F79-40FFD6BE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F7485-9D2D-4110-B206-B132E1D2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D6E23-9E3C-4324-9DEC-63DD4020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09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B186B-9013-4F5C-B9AF-48ED2882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A3D59-D818-4A88-9C01-DD424018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Train clean IPPO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32244-01A3-4470-B842-D23F0299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FormationAviary only; no wind/noise/failure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E7D57-21CC-4AE9-9F52-B8A9952E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33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CCCDC-9263-4AA8-B7FF-F6908758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209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40505-7DCA-48B3-BF89-B096FAE5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C85DE-D7B6-4D8A-BBDD-DFF36183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193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Deploy to surprises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E5924-479B-4CC9-A258-ABF827F5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76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Wind, sensor noise, actuator weakness, goal shift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60A1E-44AC-40EE-B112-4838AE8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FC0FB-B49F-4F4D-9A67-5B4868F6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209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FA6F7-D641-4156-B1A5-5434B856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ED05C-790A-405C-91BD-31024110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Trigger on 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2F633-A5A7-4038-9882-2AE3583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Policy entropy plus MC-dropout variance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FF3CB-0C8E-4776-8CCD-E211C463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33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E9047-D77F-4145-826D-B6AEA260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209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037E3-27EB-4323-AC89-BA88E485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193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1D5A1-1426-412E-AB6C-C81860DB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193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Audit forgetting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7F3741-A770-4B4C-82A7-EC55B685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Clean replay, EWC, KL, ablations, continual matrix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3C56F-70BA-4FE5-94A9-F374EFD0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DB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DB5"/>
                </a:solidFill>
                <a:latin typeface="Aptos"/>
                <a:ea typeface="Aptos"/>
                <a:cs typeface="Aptos"/>
              </a:rPr>
              <a:t>Environment values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C71B94-86B9-4055-A248-15AED94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7C39EA-A00D-4055-AB38-35F7B58D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148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2 CF2X drones, PyBullet `PYB`, velocity control, kinematic observations plus waypoint offset.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82C5BD-F7CC-4EF4-B304-0FE9A3BE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AC5BC7-3331-406B-A86B-88E4806D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720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240 Hz physics, 30 Hz control, 15 second episodes, 0.5 m target formation spacing.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FCBF8-E109-4525-853D-D3FC3DA9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6BF99A-66B2-41B7-91A3-AC4C83C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4292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Default waypoints: [0.15, 0.15, 0.5], [0.4, 0.4, 0.5], [0.6, 0.0, 0.7].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2EF372-A5CB-46E5-9309-1EB1A628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910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Training values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AB8D63-CDA6-45F1-B65A-72448940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1600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C6F40-ED52-44A4-82C7-C26A6C1A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29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1e6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CC0F92-8645-40AD-8762-06477E9F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815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timesteps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FBC817-AE0A-4534-9DE9-7323772D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81600"/>
            <a:ext cx="1257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seed 42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74EC23-27BE-4E8B-8C85-52164DEE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1600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543EBD-42C7-4505-9C45-662AF26D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rPr>
              <a:t>1e-4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BC21B9-645B-4E38-BCCA-946C13E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815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PPO LR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D8053F-DA5C-4146-A921-319587C2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81600"/>
            <a:ext cx="1257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gamma 0.99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E65172-A5FC-4AEA-B891-FA4D6589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1485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4FB683-7FA9-4B80-AFE3-77A617DB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291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rPr>
              <a:t>2x256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8216E-5FCE-481B-9315-6E11ED22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8157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186045-6CF5-4F43-B4FC-206AAD57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81600"/>
            <a:ext cx="990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tanh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966F79-05C4-4D41-BED3-E2621560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confidence_triggered_swarm/configs/default.yaml</a:t>
            </a:r>
          </a:p>
        </p:txBody>
      </p:sp>
    </p:spTree>
    <p:extLst>
      <p:ext uri="{BB962C8B-B14F-4D97-AF65-F5344CB8AC3E}">
        <p14:creationId xmlns:p14="http://schemas.microsoft.com/office/powerpoint/2010/main" val="555421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316E1-2285-41BE-A158-4D866C3F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3158D-0A63-411C-B110-CC694E0B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BRITTLENESS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B9D4B-2C29-4A48-B5A5-3D420526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The clean policy collapses under even mild post-training surprise.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1A31A-040A-4520-9B2A-B49E6B33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Frozen evaluation isolates the deployment-shift problem before any adaptation.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7BE71-1E17-4BBC-B5A9-33C33E56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BA43D-5017-4140-83BC-83111E06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A11AB-DDC6-4F96-B28C-27A2AF91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7aeebcf2548b1"/>
          <a:stretch xmlns:a="http://schemas.openxmlformats.org/drawingml/2006/main"/>
        </p:blipFill>
        <p:spPr>
          <a:xfrm xmlns:a="http://schemas.openxmlformats.org/drawingml/2006/main">
            <a:off x="1148859" y="1905000"/>
            <a:ext cx="6122383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F07A9-1387-4022-AF52-1D80313E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3143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653A5-13DF-4FD7-987E-6D6D942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590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Why this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5E09F-8D08-44A1-AFBD-BB37AC06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1F7B6-8F0D-4092-838C-B875A7DA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Clean reward is 1305.2, but mild surprise drops frozen reward to 105.9.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B71B5-600C-448B-B111-80DF2B65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802F9-8822-4EB2-A98D-DFBEF66D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3855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Moderate/severe stay low; clean training does not transfer.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CC359-A069-40DE-B994-BB97B9B2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C22E6-8D6D-47AC-BD39-1B8576D0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5339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This motivates a post-training adaptation layer.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150C1-6755-46B6-8F49-F944A5AB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runs/full_eval/evaluation_results.json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15122168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9ABFB-AD87-47B5-90C7-E5677FEA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77AC5-B147-471E-B8C1-CDF3A0DC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ADAPTATION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015F6-358F-40D2-AF39-6207558B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The adaptation layer is conservative by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829A7-647D-4765-9BAD-2002DE8C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It adapts only between episodes and uses three safeguards against catastrophic forgetting.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D7878-B2C6-498E-B960-40491732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2080E-E1D2-42B7-8CCB-427FE18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9DEBA-2176-4202-A2FB-611BD27C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CFDC8-FAB5-4E5B-8416-7222810F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Confidence 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3DE9F-93FF-4EE1-A1F8-17B424F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66900"/>
            <a:ext cx="6991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78D16-216D-4773-AE1B-D129B388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Entropy and MC-dropout variance are calibrated on clean episodes.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D89CF-97BC-40D8-BF40-95CDC3A6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289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0C299-3BE4-4481-A1D6-9C043205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47EB1-731C-40FB-9365-78E8E461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Episode quality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3AFFD-56B0-4C37-AF2F-8401C204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6991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A7599-CD24-46DF-974F-20DD1AA2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Short or very low-reward episodes are rejected before replay.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A9609-0647-45BD-843F-2B48300B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B98F9-D384-44B3-80BC-69B502B4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E2D90-4A94-4E4C-A444-0A6ADACF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Reward-weighted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CFAA5-684B-4B91-94F6-8046AD08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6991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49DB4-9938-470E-84CD-60695F71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Usable transitions are weighted toward better-rewarded behavior.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15176-AA33-4F0E-87F6-1F2FCA7D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C0EF8-6575-45FC-9086-2C0FB1FD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299ED6-9FF7-44DF-94E5-D41862BE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Anti-forgetting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67A1A-2234-423B-8B42-93BD84B8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6991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E9CCD-D15C-44DA-A8BE-10792685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01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KL anchor, clean replay, and EWC constrain drift from clean skill.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262645-B2CA-405F-95A8-FA90CAF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DB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DB5"/>
                </a:solidFill>
                <a:latin typeface="Aptos"/>
                <a:ea typeface="Aptos"/>
                <a:cs typeface="Aptos"/>
              </a:rPr>
              <a:t>Default adaptation values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E0BC9-0176-485F-939B-080C3394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D188CC-CBB5-4B4D-9764-ECE8BCB2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4360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threshold 0.5, window 30, 5 adaptation epochs, LR 1e-4, EWC lambda 1000, clean replay ratio 0.2, KL anchor 0.5.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71DA49-DDC7-41C3-9C11-E3A37DF6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default.yaml, confidence.py, lifelong_trainer.py</a:t>
            </a:r>
          </a:p>
        </p:txBody>
      </p:sp>
    </p:spTree>
    <p:extLst>
      <p:ext uri="{BB962C8B-B14F-4D97-AF65-F5344CB8AC3E}">
        <p14:creationId xmlns:p14="http://schemas.microsoft.com/office/powerpoint/2010/main" val="18664878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4F606-5CF0-4F44-BFCD-B73DC2E4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03F3C-DA7A-42F8-BC02-334A3849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2D09F-F35B-4027-8B2A-32210DB0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Lifelong adaptation helps in mild and severe, but moderate remains mixed.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B75D-1E4A-4DC0-86BD-1EB10B93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The honest story is partial robustness with clean retention, not a monotonic win.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40A2E-BC26-43EA-B754-ED243246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A7769-6B3A-42DD-AD82-DB865418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0E939-3662-44E6-B4E6-CEBA5A20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6762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8f8d5aae7493f"/>
          <a:stretch xmlns:a="http://schemas.openxmlformats.org/drawingml/2006/main"/>
        </p:blipFill>
        <p:spPr>
          <a:xfrm xmlns:a="http://schemas.openxmlformats.org/drawingml/2006/main">
            <a:off x="902974" y="1866900"/>
            <a:ext cx="6137902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18DE2-7C07-4CAA-9674-E68CCCAE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9A7FF-871F-4B81-804C-B4869446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+4.1%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83DD4-D01C-413A-9E04-33109331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52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B25E1-D6ED-4FED-BB80-33C93B52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1358.9 vs 1305.2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7591D-D5FE-4714-8AF0-15D530D4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859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862B9-5842-491C-B9A2-AA0D52C5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00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+50.8%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AE053-DBD5-4EA7-A2BE-E2291635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52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mild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4DD8E-1E12-438C-9215-8476C577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159.7 vs 105.9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8BD04-A81D-4117-A1D6-20A8E848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BF825-4282-4292-95A4-B646EDBE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rPr>
              <a:t>-8.5%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31C5C-4B17-4B47-A83E-168A7868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147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B5360-FF72-4F47-9E88-0A2E6747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45.2 vs 49.4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B86C2-80A4-423A-9DB4-4FCB202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0BA08-43F2-4B76-86F7-32F9E6D2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623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+54.7%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5C67C-7F83-4FF7-BE05-B0DBBA5C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147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severe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EE28C-6685-4A7E-8D75-1537D7B7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42.2 vs 27.3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6361A3-7293-42DB-B766-1F2C7006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350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Presentation phrasing: adaptation recovers some reward under surprise while preserving clean behavior in this seed.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DC538B-CA74-472E-B0AC-F8A6C61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runs/full_eval/evaluation_results.json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3613509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FD2240-5636-4671-9922-9677A8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39858-BC0F-4B24-A920-AC7FB121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FORGETTING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8ED5B-F000-4F4D-83E8-F1F2A023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After severe adaptation, clean performance is retained in the saved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7EB6F-B147-456C-8682-3F5A31BA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This is the simplest clean-before versus clean-after probe.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E416A-5318-4236-B795-099B41F0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3BE51-D915-40F6-BAF9-BC55033F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88750-F4AC-421B-A51F-55B3F9B5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191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bdafb3c9b4ad3"/>
          <a:stretch xmlns:a="http://schemas.openxmlformats.org/drawingml/2006/main"/>
        </p:blipFill>
        <p:spPr>
          <a:xfrm xmlns:a="http://schemas.openxmlformats.org/drawingml/2006/main">
            <a:off x="781050" y="2148902"/>
            <a:ext cx="6000750" cy="315074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754C6-B8DA-44B2-BC88-C920441C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43100"/>
            <a:ext cx="1752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5A520-7C21-45C7-9BAF-E8EB5F48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574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rPr>
              <a:t>1308.9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AAB75-7D11-4F40-B1B0-70B9728D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98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baseline clean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D777B-24E8-4D13-8EAC-553C05F7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9850"/>
            <a:ext cx="1409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before severe adaptation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D6067-D6CA-4613-A9CB-A1E861AC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43100"/>
            <a:ext cx="1752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0931C-6C5F-4DB3-8FFA-731F101F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1386.1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A76CE-1B95-4B58-BACB-3BA0BF4E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98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post-adapt clean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76D30-A5A7-4E69-AC08-40F573BB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09850"/>
            <a:ext cx="1409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after severe adaptation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D63E8-E0ED-4F86-B061-7F73D79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76600"/>
            <a:ext cx="3771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92175-6267-4A4F-B6CE-2D5DD447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433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Evaluator output: forgetting_detected =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02073-6195-43E6-B53A-21472711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7EC27-3514-47B0-BA43-09B64924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3243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Waypoints decrease slightly, so frame this as retention, not perfect improvement.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642B3-2BF8-4511-97BC-8D44A9B6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runs/full_eval/evaluation_results.json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424977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98F71-30EB-4696-9312-3C52965C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C3834-177A-44BE-B740-67FE6CCC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CONTINUAL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0626B-83C7-4E93-A92E-4A4CB9C3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The matrix directly re-tests clean after later adaptation phases.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86498-8E84-4F92-9A32-624C237F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Rows are completed training phases; columns are evaluation tasks.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8FE8E-404F-4CCB-984C-11E6BB54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EB2E1-5B14-4D44-B2DB-28CA9ADB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06229-987E-4038-A0A5-5F663045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8096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e9a00032c4ba2"/>
          <a:stretch xmlns:a="http://schemas.openxmlformats.org/drawingml/2006/main"/>
        </p:blipFill>
        <p:spPr>
          <a:xfrm xmlns:a="http://schemas.openxmlformats.org/drawingml/2006/main">
            <a:off x="609600" y="2111612"/>
            <a:ext cx="7905750" cy="34539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D5AA0-4B12-4997-A981-D34FAC10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6098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C1999-2846-4BBE-AF45-A81FA264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2152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Clean retention column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5780C-57E1-45E2-B17D-DBFB5527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C965F-746B-4F1F-916B-9EFF7531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289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After clean: 1316.0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96A0A-4346-48EC-8986-3D135A9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436F3-1DA5-433D-82B7-253930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052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After mild: 1261.3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A1D9D-7B6B-4C8D-B1B0-2BB7E680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57FF1-1C5B-4B52-9723-33B9EF82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9814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After moderate: 1406.2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EA34C-3F15-4119-A9F4-421FE550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91AE6-5376-48DD-BCB5-40CB0D1A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457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After severe: 1322.9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9BC41-67D6-417B-AC14-F889AE61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81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3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433C"/>
                </a:solidFill>
                <a:latin typeface="Aptos"/>
                <a:ea typeface="Aptos"/>
                <a:cs typeface="Aptos"/>
              </a:rPr>
              <a:t>Use this slide to answer: did we go back and test clean?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A3FF2-278D-486B-B8F4-2B4E4C66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runs/continual_run/continual_results.json</a:t>
            </a:r>
          </a:p>
        </p:txBody>
      </p:sp>
    </p:spTree>
    <p:extLst>
      <p:ext uri="{BB962C8B-B14F-4D97-AF65-F5344CB8AC3E}">
        <p14:creationId xmlns:p14="http://schemas.microsoft.com/office/powerpoint/2010/main" val="11225376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F2935-BB50-4ED5-B85D-69DF6A8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9BE7C-7EFA-43FE-861C-194BB645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ABLATION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697C1-A012-4F3F-B365-17BDA572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The safeguards change the severe-surprise tradeoff, but the trigger is still conservative.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84BC8-2ECE-4564-A320-4E6115AE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This is the graduate-level caveat: the method has mechanisms for stability, but adaptation frequency and data quality still bottleneck the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A4406-4C0F-4F9A-BD51-28AD4BA0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80754-DADC-4DDD-BF68-5B5F0EAE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6CCA9-A056-4D66-83D2-E371318E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68580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3998eaf6d4f33"/>
          <a:stretch xmlns:a="http://schemas.openxmlformats.org/drawingml/2006/main"/>
        </p:blipFill>
        <p:spPr>
          <a:xfrm xmlns:a="http://schemas.openxmlformats.org/drawingml/2006/main">
            <a:off x="685800" y="1887845"/>
            <a:ext cx="6667500" cy="367286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D7EEE-95D4-4A5C-99B9-5F3E362F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4310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3541A-CFC8-40B2-A5A0-524E9530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A89D7-78DB-4781-901D-54B72C61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09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full-method adapts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814DD-547A-496C-9F03-C8A165B0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15 severe episodes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43B6B-B2EC-46AD-86F4-73D307BC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4310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1B5B8-F2E9-4A64-9A1D-5B10097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574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CAC5C-7DDF-4053-9FA8-935F9F3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09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ablated adapts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994AB-8F02-4EEA-80F7-CCC8A653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looser behavior appears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45734-E586-47BC-8EBE-886E0FA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76600"/>
            <a:ext cx="3524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C6D50-2580-4B9E-A10E-626145BC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022CC-DE25-48EF-B246-F679CF4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62350"/>
            <a:ext cx="278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Ablations can raise severe reward but relax clean guardrails.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03B02-512B-4DA3-B96C-15BF86C1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FB0D4-861D-4EA8-8A67-B861E6E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476750"/>
            <a:ext cx="278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Improve triggers and objectives before deleting safeguards.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015F8-D82A-4F20-82CA-568AEA46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runs/ablations/ablation_results.json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9303380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DD5E2-5A46-4848-AFF0-73125C8C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B16C6-C8AB-4DED-9C55-4B29DF69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TRAINING OVER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BB883-51F2-493B-87F8-3F0C719E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The sequential run exposes where adaptation helps and where it remains noisy.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99ED1-2F08-490F-8900-75F4C111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The same lifelong policy moves through clean, mild, moderate, and severe phases, then is re-evaluated after each phase.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AC9CB-4C70-41B3-85AF-CB618A6E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D5828-1785-4D16-9E89-0F17265C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97796-CF26-40F6-98E0-ACC9875D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7000875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438872b354afc"/>
          <a:stretch xmlns:a="http://schemas.openxmlformats.org/drawingml/2006/main"/>
        </p:blipFill>
        <p:spPr>
          <a:xfrm xmlns:a="http://schemas.openxmlformats.org/drawingml/2006/main">
            <a:off x="685800" y="2027619"/>
            <a:ext cx="6810375" cy="337426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7DEA4-5AC0-4126-B089-3A6AD554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AEBF0-4DDE-4F3C-83C4-D36CB7F8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clean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ED4A4-52ED-48AC-BACF-5A65887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52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B9BAD-53E3-49C5-A509-A44BFE46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high-reward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8979F-3690-4670-97DB-3AA97E04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AA22F-8E1B-4DA2-B424-3C0FD604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00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rPr>
              <a:t>severe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EF8F8-7EE2-4A90-83D9-F1FECA18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52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914BF-1B03-4B27-B309-4D4B75FE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still low and noisy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5C1E3-4944-43DA-8542-B0C25280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3486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FDBEC-3BE4-43E7-9CA5-67E61296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0920B-787A-428D-B883-0B85AEA7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09950"/>
            <a:ext cx="278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The work includes per-episode traces plus after-phase matrix evaluation.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771BF-973E-43B2-8D8B-D8942930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B2AD1-0F62-40D1-9644-EB246652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05300"/>
            <a:ext cx="278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Severe remains difficult even when adaptation recovers some reward.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E0817-66D3-4702-9D3D-8AD3D579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runs/continual_run/continual_results.json</a:t>
            </a:r>
          </a:p>
        </p:txBody>
      </p:sp>
    </p:spTree>
    <p:extLst>
      <p:ext uri="{BB962C8B-B14F-4D97-AF65-F5344CB8AC3E}">
        <p14:creationId xmlns:p14="http://schemas.microsoft.com/office/powerpoint/2010/main" val="12898215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84801-D9DF-4452-8E74-48C9EBD4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8BE3F-7EFB-41C4-97DA-79A98BE3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CONTINUAL-LEARNING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E83CB-954F-430A-89D3-28A4D3A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The result is retention and transfer, not a final-average reward win.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8301B-F416-45BA-A9C2-D47BE6B4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This is the cleanest way to connect the project to lifelong learning and catastrophic-forgetting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2BA84-72BA-47D2-BCAA-11803360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35DC4-BC07-4346-B95C-35B89F55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39B1D-B8BC-4457-B724-DABFFE26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810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db2e69d3e4a03"/>
          <a:stretch xmlns:a="http://schemas.openxmlformats.org/drawingml/2006/main"/>
        </p:blipFill>
        <p:spPr>
          <a:xfrm xmlns:a="http://schemas.openxmlformats.org/drawingml/2006/main">
            <a:off x="704850" y="2061548"/>
            <a:ext cx="5619750" cy="309685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282ED-6BE0-4947-B88F-2B585639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AA87A-6862-48E4-97CC-8672291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240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rPr>
              <a:t>393.1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A668F-2DE9-4C25-B803-80AA6791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764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lifelong final avg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B638F-9826-4D1E-8903-01265A2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76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below frozen 412.9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10A3E-4409-45D3-9DE6-A5D438E6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269D6-3525-4992-8513-55BE1B54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240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+15.4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4920E-D391-4F7C-B668-C2BB5097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764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BWT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81316-FE82-4D13-B309-6C2D655B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positive in seed 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34E85-8818-4594-9A58-D6B2020A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527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DC65D-A530-4B53-AB2D-7B96FC53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670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+17.2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358F4-1FF1-4A44-9150-F68F041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194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FWT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6338C-13B9-4697-A464-FBF991FA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positive in seed 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432BF-C7EC-4AFB-A587-6B4CDE7C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4BAF2-6BA4-491C-824C-6A0BE07F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91E16-7C6E-48EF-A259-E50C8567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194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remembering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A7CAA-79CF-481C-8C02-63A631E6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no clean forgetting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76B9A-4E90-4001-9A25-8FF80C52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3905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9801F-4648-4642-8865-57D8AE93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323BE-6F0F-4757-A209-7D44ED78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5148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Backward/forward transfer are positive in this seed.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69C3C3-802F-4CC8-ABCC-BBAE6C28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43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2211D-A3FF-4A94-B4F8-8DB35A2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673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Final average is lower, so the honest claim stays limited.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32976C-7DFA-4203-93EA-BA553359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runs/continual_run/continual_results.json</a:t>
            </a:r>
          </a:p>
        </p:txBody>
      </p:sp>
    </p:spTree>
    <p:extLst>
      <p:ext uri="{BB962C8B-B14F-4D97-AF65-F5344CB8AC3E}">
        <p14:creationId xmlns:p14="http://schemas.microsoft.com/office/powerpoint/2010/main" val="18205796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158661-07D9-4D9A-8B66-6E257AFB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FE78D-1A20-4A22-B8A2-FD35107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WORK 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C9E66-9E91-4296-B03B-CA48691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The final repo contains the implementation, experiments, audit trail, and submission artifacts.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8F629-845D-4821-9497-757BA5C3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Use this slide to quickly cover what was done across the whole process before the closing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DA8E0-BF6A-4D66-9C18-92044610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635F1-F655-4A4A-BB64-7017D69C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835DD-F4F9-4EC9-ADA0-45E7DB1B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69E9F-E7D5-4AD1-BD6B-6B2318D6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DB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DB5"/>
                </a:solidFill>
                <a:latin typeface="Aptos"/>
                <a:ea typeface="Aptos"/>
                <a:cs typeface="Aptos"/>
              </a:rPr>
              <a:t>Policy and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54A37-95FF-4EDC-A553-1BFF01E8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Shared PPO/IPPO, FormationAviary task, surprise wrapper, clean baseline checkpoint.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57316-0DB8-4747-82E5-4349904B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478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601B0-2207-4151-A901-EED999B1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57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Adaptation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2FFE7-07FB-4666-9DBB-897BC402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8125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Entropy/dropout confidence, replay buffers, reward-weighted updates, KL, clean replay, EWC.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9CB33-6FEA-4B76-A00D-CD97CDE3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D7AEC-2BE4-47E1-A9C3-41D2F551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DB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DB5"/>
                </a:solidFill>
                <a:latin typeface="Aptos"/>
                <a:ea typeface="Aptos"/>
                <a:cs typeface="Aptos"/>
              </a:rPr>
              <a:t>Evaluation suite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4F6CE-F94A-4C9E-8C02-190D22F1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Frozen vs lifelong evaluation, severe ablations, forgetting checks, continual matrix.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D64F2-9AA7-4B1C-B3E3-23B6357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433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C3371-2DCC-4BA7-924B-5152FD02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52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Submission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87E44-7780-4C05-958A-8D1B1305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7670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NeurIPS-style report draft, generated figures, editable PPTX, speaker notes, readiness checker.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BFD41-3D0D-4B20-8C06-2AE8E703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2B7F6-FC12-48A9-B1DE-B022EBED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6DB5"/>
                </a:solidFill>
                <a:latin typeface="Aptos Display"/>
                <a:ea typeface="Aptos Display"/>
                <a:cs typeface="Aptos Display"/>
              </a:rPr>
              <a:t>4 JSONs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CBD51-407A-45F5-9548-C3D533B3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959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canonical result sources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B785C-96CD-4767-BDB6-07CAF5B1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96000"/>
            <a:ext cx="1657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baseline/full/ablation/continual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8CB77-DD80-44CE-91FE-0FE5F33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2925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64DE2-E4FB-449B-9484-39A28795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435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8 figs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52AC5E-84E6-4F86-8395-AE5A42D7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959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PNG + PDF outputs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99EDA-071C-4B0C-91BF-5B76451D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096000"/>
            <a:ext cx="1657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professor-ready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38D24-33F6-4D98-AAC2-75581E3F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9C308-8E03-4F4F-AD4F-58B692B5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435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7A2D"/>
                </a:solidFill>
                <a:latin typeface="Aptos Display"/>
                <a:ea typeface="Aptos Display"/>
                <a:cs typeface="Aptos Display"/>
              </a:rPr>
              <a:t>12 slides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77518-6633-4584-AF02-5981079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959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editable PPTX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2C8791-7F52-4C50-AD07-421D6360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096000"/>
            <a:ext cx="1657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10-12 minute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F6ABB5-C3CB-4ABC-94CE-2109AD3E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2925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4586E2-AEE9-49B5-A5C0-BCC7EFF6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rPr>
              <a:t>1 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B216C1-105E-4389-A006-A75909AF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959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readiness script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5F5C6-1F9F-4941-8762-9668021F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096000"/>
            <a:ext cx="1657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flags manual items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57BDCB-A24A-430D-B8C8-BB141C2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README.md, docs/artifact_guide.md, final_submission/</a:t>
            </a:r>
          </a:p>
        </p:txBody>
      </p:sp>
    </p:spTree>
    <p:extLst>
      <p:ext uri="{BB962C8B-B14F-4D97-AF65-F5344CB8AC3E}">
        <p14:creationId xmlns:p14="http://schemas.microsoft.com/office/powerpoint/2010/main" val="19679389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26A3A-7FA9-468F-95ED-1232F916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F3083-8418-4DE7-9B43-DB3FD592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7A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7A2D"/>
                </a:solidFill>
                <a:latin typeface="Aptos"/>
                <a:ea typeface="Aptos"/>
                <a:cs typeface="Aptos"/>
              </a:rPr>
              <a:t>CLOSING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0FF0B-D133-4936-AB6B-6816869E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2B"/>
                </a:solidFill>
                <a:latin typeface="Aptos Display"/>
                <a:ea typeface="Aptos Display"/>
                <a:cs typeface="Aptos Display"/>
              </a:rPr>
              <a:t>The system demonstrates clean retention and partial robustness.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5B9CA-7653-4868-A8D8-4A13F7B2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The remaining gap is stronger validation and a better adaptation objective.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B329F-2E21-482A-81C3-490E3DB9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BCA82-26BE-459E-B0D6-7B0449FD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CS 590NN/690NN final project | Confidence-triggered swarm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BBF13-07DD-4EB5-9901-F7BDEA58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7151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5D437-D59C-4AAF-B330-34BA53C2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5943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clean-trained policy can be monitored for low confidence, adapted after deployment shift, and audited for forgetting.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1D4C1-0562-4C6E-8F29-DBCB18B4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478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9E0EE-CCDE-4E66-9802-6FF0280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+50.8%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5623C-73C5-4641-BA46-9CE47644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145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mild reward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0D1AF-01AA-4E68-BF79-40C8E503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lifelong vs frozen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72FC8-8F3C-442A-8C1D-7E069D0E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478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25430-22D0-4B59-9D22-8D478DA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621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+54.7%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09168-62FA-4573-9C38-3671BE07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145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severe reward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0ADF3-4719-44F7-9B1A-20E2158C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146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lifelong vs frozen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56C4B-8A67-46B6-8F7D-FFF168A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68438-7A14-4502-9802-8745D2CA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0DB76-D5C9-4DF7-B33C-A47C5157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95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forgetting flag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56F22-CEA6-4CFE-A062-4D9457CA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severe then clean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5099A-F305-435C-9E0B-7EDC391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56E4D-16AA-4B8C-91A3-0000DDE8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43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A9433C"/>
                </a:solidFill>
                <a:latin typeface="Aptos Display"/>
                <a:ea typeface="Aptos Display"/>
                <a:cs typeface="Aptos Display"/>
              </a:rPr>
              <a:t>seed 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DEA0B-559D-4FB3-A597-8BC44821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95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42B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733C0-8072-45FF-A16A-D1468492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957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single canonical seed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4787D-2672-4F95-AE5C-04117A2B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706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515B3-A2FB-428A-8A44-5B9EE180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6B8DC-59B7-450D-B41D-D7C8F30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625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Novelty: integrated post-training surprise benchmark, confidence-triggered lifelong adaptation, and explicit clean-after-surprise forgetting audits.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5AFC61-66D8-4A53-ABA8-EA47682F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41E4FD-5348-4AA1-BAE7-2E8C934B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149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2B"/>
                </a:solidFill>
                <a:latin typeface="Aptos"/>
                <a:ea typeface="Aptos"/>
                <a:cs typeface="Aptos"/>
              </a:rPr>
              <a:t>Future work: multi-seed validation, larger swarms, stronger confidence triggers, better adaptation objectives, and peer-help mechanisms.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8609A-45E5-40F3-A543-51E2A10B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4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Source: canonical saved results and final report draft</a:t>
            </a:r>
          </a:p>
        </p:txBody>
      </p:sp>
    </p:spTree>
    <p:extLst>
      <p:ext uri="{BB962C8B-B14F-4D97-AF65-F5344CB8AC3E}">
        <p14:creationId xmlns:p14="http://schemas.microsoft.com/office/powerpoint/2010/main" val="2076939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2026-05-02T23:09:34.5940000Z</dcterms:created>
  <dcterms:modified xsi:type="dcterms:W3CDTF">2026-05-02T23:09:34.5940000Z</dcterms:modified>
</coreProperties>
</file>